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AF048B-8A40-7A15-67EE-A9FB12CC9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B1A5ABB-255C-2371-92F3-7B4B018C9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DBB8F56-BC3B-C593-E003-8743D977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56304CA-CF32-8CD1-FBFF-F6D789DF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63D713A-932B-4FA6-CEB0-C07215C3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6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24982F-7E0E-663B-F0D3-693BCABE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0639FC-2B20-F9DE-5D3F-24D04FB86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92F9E6-767D-E589-63E4-036D6FD9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98A578-242C-A109-8F65-F361E992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874CE80-7840-5B22-B7DE-10501E27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8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4E58D1-D761-DF73-9DE5-FB0A379A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D0F5ECA-6CAE-6D62-BD25-5C6602D43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6F4E76A-EC32-F2D3-3D20-4E99A318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5938BBB-3D54-0045-3984-B4771622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4F1F0DE-EC1D-1E46-5F98-BF545C8B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1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8C2DFF-3EA1-FFC7-EF18-0E751E41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AB35A1-59F8-29BC-943E-8D60666C5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18CC6D8-4CCA-021E-9874-14734FC33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BADDC61-03D5-C7B7-E0C2-6ADD565A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3465AE1-BCFC-245C-2EA9-78390D1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F5F5D81-5D43-50B5-1BFD-6E6E1B42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5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E1084B-503F-E8EB-5C23-189223CC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0768FD7-BB1C-2152-B1A2-CB0AB4B8C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27D2623-78E0-DD37-6FF4-A0AE73CA2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2F7B6CF-DF90-E66D-2D3A-B85C0D5E7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FEE412B-DFA8-F74C-664C-BA2BA4784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EA3965F-7F8A-808C-CE92-94BCB94C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6F4586A-0286-E369-2E09-01AC8EFB0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121C4C5-D259-6D58-7A52-ED413254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3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A43913-1CBF-7722-B5BE-4AC801BA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6E240A7-6AF3-D4DE-D53A-7BF13881A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7DE81DE-5F11-868A-CAC1-18817025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40A4D22C-2317-5652-0599-CB928DF5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4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5C1FC7A-5DF2-4790-F72A-A4DAD34E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0F827E0-A88F-D6FF-25A7-817584FEC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4DD8863-B855-D740-F1C1-580CCCD5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0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372DAE7-E920-469E-89B2-14672CDA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BD88EB8-D5E0-1CBC-FF0E-EE446D814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1C4E807-10AE-CA21-A771-BD04C1DD4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DA6809-06B2-9F2D-CEE3-02ECF9DA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04DCFA6-516F-C69D-5EBD-C75DFB3F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C859ECE-4E59-28A2-B60E-AB64FF6F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2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C5C542-C885-BDC9-5CEF-513BA9B0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4383D86-2222-CF49-865E-ABF508274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216A493-51E1-7031-68DA-839D72C43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41AEAE4-B4BA-5D84-66DE-E25A263E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1C41690-8CF6-D997-8DF9-51B30A3B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010421D-8763-166A-5A7D-5081AA21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0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D5F0EB-5043-885E-CF5F-663549C3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CC26A97-AC40-DDE9-A2E0-D1A085600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56D9E19-1F75-4C31-7DD0-ECBAA6D9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A671CB0-8666-9596-AA0A-AAF16C83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13C1C26-6EA4-143C-FCFF-13D8627F3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75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8AE44CA-848C-B6E5-CED5-47AF739DD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FE5D713-9112-56FA-0F9A-B414C1529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8BB31BC-32B6-0CC6-CEA0-43588418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7E3DA27-F964-1CA7-B549-0B063AA4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3D930D9-4171-C170-AB97-CFE60321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1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C796C00-2581-4FCF-3DF0-B9A827DB9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4F977B7-2350-DE42-012C-383B7EB24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32C0485-793C-C7AE-282C-1E41586A3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AAB84-3DC8-4128-9772-E2EB48F73718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593508D-F6BB-0D14-FA27-4F5C48890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00C1F34-9D53-967A-09DC-507A82CD8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A92D7-8C15-47F6-B3F1-BE4D22BC4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9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0FA20E0-291F-92F0-1D16-CDCD22E32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1171459"/>
            <a:ext cx="9436585" cy="45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752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F3B25E4F-E2B2-3EE9-1DCA-761EB5A78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774" y="1714412"/>
            <a:ext cx="9760452" cy="34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26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994C5F3-80B2-FEDB-D9E0-C0F285EDC932}"/>
              </a:ext>
            </a:extLst>
          </p:cNvPr>
          <p:cNvSpPr txBox="1"/>
          <p:nvPr/>
        </p:nvSpPr>
        <p:spPr>
          <a:xfrm>
            <a:off x="368135" y="318654"/>
            <a:ext cx="1163781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Chromatica-Bold"/>
              </a:rPr>
              <a:t>1. </a:t>
            </a:r>
            <a:r>
              <a:rPr lang="en-US" sz="1800" b="0" i="0" u="none" strike="noStrike" baseline="0" dirty="0">
                <a:latin typeface="Chromatica-Regular"/>
              </a:rPr>
              <a:t>Customers </a:t>
            </a:r>
            <a:r>
              <a:rPr lang="en-US" sz="1800" b="0" i="0" u="none" strike="noStrike" baseline="0" dirty="0" err="1">
                <a:latin typeface="Chromatica-Regular"/>
              </a:rPr>
              <a:t>isimli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bir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veritabanı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oluşturunuz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ve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içerisine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verilen</a:t>
            </a:r>
            <a:r>
              <a:rPr lang="en-US" sz="1800" b="0" i="0" u="none" strike="noStrike" baseline="0" dirty="0">
                <a:latin typeface="Chromatica-Regular"/>
              </a:rPr>
              <a:t> excel </a:t>
            </a:r>
            <a:r>
              <a:rPr lang="en-US" sz="1800" b="0" i="0" u="none" strike="noStrike" baseline="0" dirty="0" err="1">
                <a:latin typeface="Chromatica-Regular"/>
              </a:rPr>
              <a:t>dosyasını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tablo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olarak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ekleyin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2. </a:t>
            </a:r>
            <a:r>
              <a:rPr lang="en-US" sz="1800" b="0" i="0" u="none" strike="noStrike" baseline="0" dirty="0">
                <a:latin typeface="Chromatica-Regular"/>
              </a:rPr>
              <a:t>Customers </a:t>
            </a:r>
            <a:r>
              <a:rPr lang="en-US" sz="1800" b="0" i="0" u="none" strike="noStrike" baseline="0" dirty="0" err="1">
                <a:latin typeface="Chromatica-Regular"/>
              </a:rPr>
              <a:t>tablosundan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adı</a:t>
            </a:r>
            <a:r>
              <a:rPr lang="en-US" sz="1800" b="0" i="0" u="none" strike="noStrike" baseline="0" dirty="0">
                <a:latin typeface="Chromatica-Regular"/>
              </a:rPr>
              <a:t> ‘A’ </a:t>
            </a:r>
            <a:r>
              <a:rPr lang="en-US" sz="1800" b="0" i="0" u="none" strike="noStrike" baseline="0" dirty="0" err="1">
                <a:latin typeface="Chromatica-Regular"/>
              </a:rPr>
              <a:t>harfi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ile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başlayan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kişileri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çeken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sorguyu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yazınız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3. </a:t>
            </a:r>
            <a:r>
              <a:rPr lang="en-US" sz="1800" b="0" i="0" u="none" strike="noStrike" baseline="0" dirty="0">
                <a:latin typeface="Chromatica-Regular"/>
              </a:rPr>
              <a:t>1990 </a:t>
            </a:r>
            <a:r>
              <a:rPr lang="en-US" sz="1800" b="0" i="0" u="none" strike="noStrike" baseline="0" dirty="0" err="1">
                <a:latin typeface="Chromatica-Regular"/>
              </a:rPr>
              <a:t>ve</a:t>
            </a:r>
            <a:r>
              <a:rPr lang="en-US" sz="1800" b="0" i="0" u="none" strike="noStrike" baseline="0" dirty="0">
                <a:latin typeface="Chromatica-Regular"/>
              </a:rPr>
              <a:t> 1995 </a:t>
            </a:r>
            <a:r>
              <a:rPr lang="en-US" sz="1800" b="0" i="0" u="none" strike="noStrike" baseline="0" dirty="0" err="1">
                <a:latin typeface="Chromatica-Regular"/>
              </a:rPr>
              <a:t>yılları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arasında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doğan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müşterileri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çekiniz</a:t>
            </a:r>
            <a:r>
              <a:rPr lang="en-US" sz="1800" b="0" i="0" u="none" strike="noStrike" baseline="0" dirty="0">
                <a:latin typeface="Chromatica-Regular"/>
              </a:rPr>
              <a:t>. 1990 </a:t>
            </a:r>
            <a:r>
              <a:rPr lang="en-US" sz="1800" b="0" i="0" u="none" strike="noStrike" baseline="0" dirty="0" err="1">
                <a:latin typeface="Chromatica-Regular"/>
              </a:rPr>
              <a:t>ve</a:t>
            </a:r>
            <a:r>
              <a:rPr lang="en-US" sz="1800" b="0" i="0" u="none" strike="noStrike" baseline="0" dirty="0">
                <a:latin typeface="Chromatica-Regular"/>
              </a:rPr>
              <a:t> 1995 </a:t>
            </a:r>
            <a:r>
              <a:rPr lang="en-US" sz="1800" b="0" i="0" u="none" strike="noStrike" baseline="0" dirty="0" err="1">
                <a:latin typeface="Chromatica-Regular"/>
              </a:rPr>
              <a:t>yılları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dahildir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4. </a:t>
            </a:r>
            <a:r>
              <a:rPr lang="en-US" sz="1800" b="0" i="0" u="none" strike="noStrike" baseline="0" dirty="0" err="1">
                <a:latin typeface="Chromatica-Regular"/>
              </a:rPr>
              <a:t>İstanbul’da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yaşayan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kişileri</a:t>
            </a:r>
            <a:r>
              <a:rPr lang="en-US" sz="1800" b="0" i="0" u="none" strike="noStrike" baseline="0" dirty="0">
                <a:latin typeface="Chromatica-Regular"/>
              </a:rPr>
              <a:t> Join </a:t>
            </a:r>
            <a:r>
              <a:rPr lang="en-US" sz="1800" b="0" i="0" u="none" strike="noStrike" baseline="0" dirty="0" err="1">
                <a:latin typeface="Chromatica-Regular"/>
              </a:rPr>
              <a:t>kullanarak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getiren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sorguyu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yazınız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5. </a:t>
            </a:r>
            <a:r>
              <a:rPr lang="en-US" sz="1800" b="0" i="0" u="none" strike="noStrike" baseline="0" dirty="0" err="1">
                <a:latin typeface="Chromatica-Regular"/>
              </a:rPr>
              <a:t>İstanbul’da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yaşayan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kişileri</a:t>
            </a:r>
            <a:r>
              <a:rPr lang="en-US" sz="1800" b="0" i="0" u="none" strike="noStrike" baseline="0" dirty="0">
                <a:latin typeface="Chromatica-Regular"/>
              </a:rPr>
              <a:t> subquery </a:t>
            </a:r>
            <a:r>
              <a:rPr lang="en-US" sz="1800" b="0" i="0" u="none" strike="noStrike" baseline="0" dirty="0" err="1">
                <a:latin typeface="Chromatica-Regular"/>
              </a:rPr>
              <a:t>kullanarak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getiren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sorguyu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yazınız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6. </a:t>
            </a:r>
            <a:r>
              <a:rPr lang="en-US" sz="1800" b="0" i="0" u="none" strike="noStrike" baseline="0" dirty="0">
                <a:latin typeface="Chromatica-Regular"/>
              </a:rPr>
              <a:t>Hangi </a:t>
            </a:r>
            <a:r>
              <a:rPr lang="en-US" sz="1800" b="0" i="0" u="none" strike="noStrike" baseline="0" dirty="0" err="1">
                <a:latin typeface="Chromatica-Regular"/>
              </a:rPr>
              <a:t>şehirde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kaç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müşterimizin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olduğu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bilgisini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getiren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sorguyu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yazınız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7. </a:t>
            </a:r>
            <a:r>
              <a:rPr lang="en-US" sz="1800" b="0" i="0" u="none" strike="noStrike" baseline="0" dirty="0">
                <a:latin typeface="Chromatica-Regular"/>
              </a:rPr>
              <a:t>10’dan </a:t>
            </a:r>
            <a:r>
              <a:rPr lang="en-US" sz="1800" b="0" i="0" u="none" strike="noStrike" baseline="0" dirty="0" err="1">
                <a:latin typeface="Chromatica-Regular"/>
              </a:rPr>
              <a:t>fazla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müşterimiz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olan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şehirleri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müşteri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sayısı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ile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birlikte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müşteri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sayısına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göre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fazladan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aza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doğru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sıralı</a:t>
            </a:r>
            <a:r>
              <a:rPr lang="en-US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şekilde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getiriniz</a:t>
            </a:r>
            <a:endParaRPr lang="en-US" sz="1800" b="0" i="0" u="none" strike="noStrike" baseline="0" dirty="0">
              <a:latin typeface="Chromatica-Regular"/>
            </a:endParaRP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8. </a:t>
            </a:r>
            <a:r>
              <a:rPr lang="en-US" sz="1800" b="0" i="0" u="none" strike="noStrike" baseline="0" dirty="0">
                <a:latin typeface="Chromatica-Regular"/>
              </a:rPr>
              <a:t>Hangi </a:t>
            </a:r>
            <a:r>
              <a:rPr lang="en-US" sz="1800" b="0" i="0" u="none" strike="noStrike" baseline="0" dirty="0" err="1">
                <a:latin typeface="Chromatica-Regular"/>
              </a:rPr>
              <a:t>şehirde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kaç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erkek</a:t>
            </a:r>
            <a:r>
              <a:rPr lang="en-US" sz="1800" b="0" i="0" u="none" strike="noStrike" baseline="0" dirty="0">
                <a:latin typeface="Chromatica-Regular"/>
              </a:rPr>
              <a:t>, </a:t>
            </a:r>
            <a:r>
              <a:rPr lang="en-US" sz="1800" b="0" i="0" u="none" strike="noStrike" baseline="0" dirty="0" err="1">
                <a:latin typeface="Chromatica-Regular"/>
              </a:rPr>
              <a:t>kaç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kadın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müşterimizin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olduğu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bilgisini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getiren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sorguyu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yazınız</a:t>
            </a:r>
            <a:endParaRPr lang="en-US" sz="1800" b="0" i="0" u="none" strike="noStrike" baseline="0" dirty="0">
              <a:latin typeface="Chromatica-Regular"/>
            </a:endParaRP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9. </a:t>
            </a:r>
            <a:r>
              <a:rPr lang="en-US" sz="1800" b="0" i="0" u="none" strike="noStrike" baseline="0" dirty="0">
                <a:latin typeface="Chromatica-Regular"/>
              </a:rPr>
              <a:t>Customers </a:t>
            </a:r>
            <a:r>
              <a:rPr lang="en-US" sz="1800" b="0" i="0" u="none" strike="noStrike" baseline="0" dirty="0" err="1">
                <a:latin typeface="Chromatica-Regular"/>
              </a:rPr>
              <a:t>tablosuna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yaş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grubu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için</a:t>
            </a:r>
            <a:r>
              <a:rPr lang="en-US" sz="1800" b="0" i="0" u="none" strike="noStrike" baseline="0" dirty="0">
                <a:latin typeface="Chromatica-Regular"/>
              </a:rPr>
              <a:t> yeni </a:t>
            </a:r>
            <a:r>
              <a:rPr lang="en-US" sz="1800" b="0" i="0" u="none" strike="noStrike" baseline="0" dirty="0" err="1">
                <a:latin typeface="Chromatica-Regular"/>
              </a:rPr>
              <a:t>bir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alan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ekleyiniz</a:t>
            </a:r>
            <a:r>
              <a:rPr lang="en-US" sz="1800" b="0" i="0" u="none" strike="noStrike" baseline="0" dirty="0">
                <a:latin typeface="Chromatica-Regular"/>
              </a:rPr>
              <a:t>. Bu </a:t>
            </a:r>
            <a:r>
              <a:rPr lang="en-US" sz="1800" b="0" i="0" u="none" strike="noStrike" baseline="0" dirty="0" err="1">
                <a:latin typeface="Chromatica-Regular"/>
              </a:rPr>
              <a:t>işlemi</a:t>
            </a:r>
            <a:r>
              <a:rPr lang="en-US" sz="1800" b="0" i="0" u="none" strike="noStrike" baseline="0" dirty="0">
                <a:latin typeface="Chromatica-Regular"/>
              </a:rPr>
              <a:t> hem management studio </a:t>
            </a:r>
            <a:r>
              <a:rPr lang="en-US" sz="1800" b="0" i="0" u="none" strike="noStrike" baseline="0" dirty="0" err="1">
                <a:latin typeface="Chromatica-Regular"/>
              </a:rPr>
              <a:t>ile</a:t>
            </a:r>
            <a:r>
              <a:rPr lang="en-US" sz="1800" b="0" i="0" u="none" strike="noStrike" baseline="0" dirty="0">
                <a:latin typeface="Chromatica-Regular"/>
              </a:rPr>
              <a:t> hem de </a:t>
            </a:r>
            <a:r>
              <a:rPr lang="en-US" sz="1800" b="0" i="0" u="none" strike="noStrike" baseline="0" dirty="0" err="1">
                <a:latin typeface="Chromatica-Regular"/>
              </a:rPr>
              <a:t>sql</a:t>
            </a:r>
            <a:endParaRPr lang="en-US" sz="1800" b="0" i="0" u="none" strike="noStrike" baseline="0" dirty="0">
              <a:latin typeface="Chromatica-Regular"/>
            </a:endParaRPr>
          </a:p>
          <a:p>
            <a:pPr algn="l"/>
            <a:r>
              <a:rPr lang="en-US" sz="1800" b="0" i="0" u="none" strike="noStrike" baseline="0" dirty="0" err="1">
                <a:latin typeface="Chromatica-Regular"/>
              </a:rPr>
              <a:t>kodu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ile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yapınız</a:t>
            </a:r>
            <a:r>
              <a:rPr lang="en-US" sz="1800" b="0" i="0" u="none" strike="noStrike" baseline="0" dirty="0">
                <a:latin typeface="Chromatica-Regular"/>
              </a:rPr>
              <a:t>. </a:t>
            </a:r>
            <a:r>
              <a:rPr lang="en-US" sz="1800" b="0" i="0" u="none" strike="noStrike" baseline="0" dirty="0" err="1">
                <a:latin typeface="Chromatica-Regular"/>
              </a:rPr>
              <a:t>Alanı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adı</a:t>
            </a:r>
            <a:r>
              <a:rPr lang="en-US" sz="1800" b="0" i="0" u="none" strike="noStrike" baseline="0" dirty="0">
                <a:latin typeface="Chromatica-Regular"/>
              </a:rPr>
              <a:t> AGEGROUP </a:t>
            </a:r>
            <a:r>
              <a:rPr lang="en-US" sz="1800" b="0" i="0" u="none" strike="noStrike" baseline="0" dirty="0" err="1">
                <a:latin typeface="Chromatica-Regular"/>
              </a:rPr>
              <a:t>veritipi</a:t>
            </a:r>
            <a:r>
              <a:rPr lang="en-US" sz="1800" b="0" i="0" u="none" strike="noStrike" baseline="0" dirty="0">
                <a:latin typeface="Chromatica-Regular"/>
              </a:rPr>
              <a:t> Varchar(50)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10. </a:t>
            </a:r>
            <a:r>
              <a:rPr lang="en-US" sz="1800" b="0" i="0" u="none" strike="noStrike" baseline="0" dirty="0">
                <a:latin typeface="Chromatica-Regular"/>
              </a:rPr>
              <a:t>Customers </a:t>
            </a:r>
            <a:r>
              <a:rPr lang="en-US" sz="1800" b="0" i="0" u="none" strike="noStrike" baseline="0" dirty="0" err="1">
                <a:latin typeface="Chromatica-Regular"/>
              </a:rPr>
              <a:t>tablosuna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eklediğiniz</a:t>
            </a:r>
            <a:r>
              <a:rPr lang="en-US" sz="1800" b="0" i="0" u="none" strike="noStrike" baseline="0" dirty="0">
                <a:latin typeface="Chromatica-Regular"/>
              </a:rPr>
              <a:t> AGEGROUP </a:t>
            </a:r>
            <a:r>
              <a:rPr lang="en-US" sz="1800" b="0" i="0" u="none" strike="noStrike" baseline="0" dirty="0" err="1">
                <a:latin typeface="Chromatica-Regular"/>
              </a:rPr>
              <a:t>alanını</a:t>
            </a:r>
            <a:r>
              <a:rPr lang="en-US" sz="1800" b="0" i="0" u="none" strike="noStrike" baseline="0" dirty="0">
                <a:latin typeface="Chromatica-Regular"/>
              </a:rPr>
              <a:t> 20-35 </a:t>
            </a:r>
            <a:r>
              <a:rPr lang="en-US" sz="1800" b="0" i="0" u="none" strike="noStrike" baseline="0" dirty="0" err="1">
                <a:latin typeface="Chromatica-Regular"/>
              </a:rPr>
              <a:t>yaş</a:t>
            </a:r>
            <a:r>
              <a:rPr lang="en-US" sz="1800" b="0" i="0" u="none" strike="noStrike" baseline="0" dirty="0">
                <a:latin typeface="Chromatica-Regular"/>
              </a:rPr>
              <a:t> arası,36-45 </a:t>
            </a:r>
            <a:r>
              <a:rPr lang="en-US" sz="1800" b="0" i="0" u="none" strike="noStrike" baseline="0" dirty="0" err="1">
                <a:latin typeface="Chromatica-Regular"/>
              </a:rPr>
              <a:t>yaş</a:t>
            </a:r>
            <a:r>
              <a:rPr lang="en-US" sz="1800" b="0" i="0" u="none" strike="noStrike" baseline="0" dirty="0">
                <a:latin typeface="Chromatica-Regular"/>
              </a:rPr>
              <a:t> arası,46-55 </a:t>
            </a:r>
            <a:r>
              <a:rPr lang="en-US" sz="1800" b="0" i="0" u="none" strike="noStrike" baseline="0" dirty="0" err="1">
                <a:latin typeface="Chromatica-Regular"/>
              </a:rPr>
              <a:t>yaş</a:t>
            </a:r>
            <a:r>
              <a:rPr lang="en-US" sz="1800" b="0" i="0" u="none" strike="noStrike" baseline="0" dirty="0">
                <a:latin typeface="Chromatica-Regular"/>
              </a:rPr>
              <a:t> arası,55-65 </a:t>
            </a:r>
            <a:r>
              <a:rPr lang="en-US" sz="1800" b="0" i="0" u="none" strike="noStrike" baseline="0" dirty="0" err="1">
                <a:latin typeface="Chromatica-Regular"/>
              </a:rPr>
              <a:t>yaş</a:t>
            </a:r>
            <a:endParaRPr lang="en-US" sz="1800" b="0" i="0" u="none" strike="noStrike" baseline="0" dirty="0">
              <a:latin typeface="Chromatica-Regular"/>
            </a:endParaRPr>
          </a:p>
          <a:p>
            <a:pPr algn="l"/>
            <a:r>
              <a:rPr lang="en-US" sz="1800" b="0" i="0" u="none" strike="noStrike" baseline="0" dirty="0" err="1">
                <a:latin typeface="Chromatica-Regular"/>
              </a:rPr>
              <a:t>arası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ve</a:t>
            </a:r>
            <a:r>
              <a:rPr lang="en-US" sz="1800" b="0" i="0" u="none" strike="noStrike" baseline="0" dirty="0">
                <a:latin typeface="Chromatica-Regular"/>
              </a:rPr>
              <a:t> 65 </a:t>
            </a:r>
            <a:r>
              <a:rPr lang="en-US" sz="1800" b="0" i="0" u="none" strike="noStrike" baseline="0" dirty="0" err="1">
                <a:latin typeface="Chromatica-Regular"/>
              </a:rPr>
              <a:t>yaş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üstü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olarak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güncelleyiniz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11. </a:t>
            </a:r>
            <a:r>
              <a:rPr lang="en-US" sz="1800" b="0" i="0" u="none" strike="noStrike" baseline="0" dirty="0" err="1">
                <a:latin typeface="Chromatica-Regular"/>
              </a:rPr>
              <a:t>İstanbul’da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yaşayıp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ilçesi</a:t>
            </a:r>
            <a:r>
              <a:rPr lang="en-US" sz="1800" b="0" i="0" u="none" strike="noStrike" baseline="0" dirty="0">
                <a:latin typeface="Chromatica-Regular"/>
              </a:rPr>
              <a:t> ‘</a:t>
            </a:r>
            <a:r>
              <a:rPr lang="en-US" sz="1800" b="0" i="0" u="none" strike="noStrike" baseline="0" dirty="0" err="1">
                <a:latin typeface="Chromatica-Regular"/>
              </a:rPr>
              <a:t>Kadıköy</a:t>
            </a:r>
            <a:r>
              <a:rPr lang="en-US" sz="1800" b="0" i="0" u="none" strike="noStrike" baseline="0" dirty="0">
                <a:latin typeface="Chromatica-Regular"/>
              </a:rPr>
              <a:t>’ </a:t>
            </a:r>
            <a:r>
              <a:rPr lang="en-US" sz="1800" b="0" i="0" u="none" strike="noStrike" baseline="0" dirty="0" err="1">
                <a:latin typeface="Chromatica-Regular"/>
              </a:rPr>
              <a:t>dışında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olanları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listeleyiniz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12. </a:t>
            </a:r>
            <a:r>
              <a:rPr lang="en-US" sz="1800" b="0" i="0" u="none" strike="noStrike" baseline="0" dirty="0" err="1">
                <a:latin typeface="Chromatica-Regular"/>
              </a:rPr>
              <a:t>Müşterilerimizin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telefon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numalarının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operatör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bilgisini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getirmek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istiyoruz</a:t>
            </a:r>
            <a:r>
              <a:rPr lang="en-US" sz="1800" b="0" i="0" u="none" strike="noStrike" baseline="0" dirty="0">
                <a:latin typeface="Chromatica-Regular"/>
              </a:rPr>
              <a:t>. TELNR1 </a:t>
            </a:r>
            <a:r>
              <a:rPr lang="en-US" sz="1800" b="0" i="0" u="none" strike="noStrike" baseline="0" dirty="0" err="1">
                <a:latin typeface="Chromatica-Regular"/>
              </a:rPr>
              <a:t>ve</a:t>
            </a:r>
            <a:r>
              <a:rPr lang="en-US" sz="1800" b="0" i="0" u="none" strike="noStrike" baseline="0" dirty="0">
                <a:latin typeface="Chromatica-Regular"/>
              </a:rPr>
              <a:t> TELNR2 </a:t>
            </a:r>
            <a:r>
              <a:rPr lang="en-US" sz="1800" b="0" i="0" u="none" strike="noStrike" baseline="0" dirty="0" err="1">
                <a:latin typeface="Chromatica-Regular"/>
              </a:rPr>
              <a:t>alanlarının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yanına</a:t>
            </a:r>
            <a:endParaRPr lang="en-US" sz="1800" b="0" i="0" u="none" strike="noStrike" baseline="0" dirty="0">
              <a:latin typeface="Chromatica-Regular"/>
            </a:endParaRPr>
          </a:p>
          <a:p>
            <a:pPr algn="l"/>
            <a:r>
              <a:rPr lang="en-US" sz="1800" b="0" i="0" u="none" strike="noStrike" baseline="0" dirty="0" err="1">
                <a:latin typeface="Chromatica-Regular"/>
              </a:rPr>
              <a:t>operatör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numarasını</a:t>
            </a:r>
            <a:r>
              <a:rPr lang="en-US" sz="1800" b="0" i="0" u="none" strike="noStrike" baseline="0" dirty="0">
                <a:latin typeface="Chromatica-Regular"/>
              </a:rPr>
              <a:t> (532),(505) </a:t>
            </a:r>
            <a:r>
              <a:rPr lang="en-US" sz="1800" b="0" i="0" u="none" strike="noStrike" baseline="0" dirty="0" err="1">
                <a:latin typeface="Chromatica-Regular"/>
              </a:rPr>
              <a:t>gibi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getirmek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istiyoruz</a:t>
            </a:r>
            <a:r>
              <a:rPr lang="en-US" sz="1800" b="0" i="0" u="none" strike="noStrike" baseline="0" dirty="0">
                <a:latin typeface="Chromatica-Regular"/>
              </a:rPr>
              <a:t>. Bu </a:t>
            </a:r>
            <a:r>
              <a:rPr lang="en-US" sz="1800" b="0" i="0" u="none" strike="noStrike" baseline="0" dirty="0" err="1">
                <a:latin typeface="Chromatica-Regular"/>
              </a:rPr>
              <a:t>sorgu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için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gereken</a:t>
            </a:r>
            <a:r>
              <a:rPr lang="en-US" sz="1800" b="0" i="0" u="none" strike="noStrike" baseline="0" dirty="0">
                <a:latin typeface="Chromatica-Regular"/>
              </a:rPr>
              <a:t> SQL </a:t>
            </a:r>
            <a:r>
              <a:rPr lang="en-US" sz="1800" b="0" i="0" u="none" strike="noStrike" baseline="0" dirty="0" err="1">
                <a:latin typeface="Chromatica-Regular"/>
              </a:rPr>
              <a:t>cümlesini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yazınız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13. </a:t>
            </a:r>
            <a:r>
              <a:rPr lang="en-US" sz="1800" b="0" i="0" u="none" strike="noStrike" baseline="0" dirty="0" err="1">
                <a:latin typeface="Chromatica-Regular"/>
              </a:rPr>
              <a:t>Müşterilerimizin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telefon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numaralarının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operatör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bilgisini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getirmek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istiyoruz</a:t>
            </a:r>
            <a:r>
              <a:rPr lang="en-US" sz="1800" b="0" i="0" u="none" strike="noStrike" baseline="0" dirty="0">
                <a:latin typeface="Chromatica-Regular"/>
              </a:rPr>
              <a:t>. </a:t>
            </a:r>
            <a:r>
              <a:rPr lang="en-US" sz="1800" b="0" i="0" u="none" strike="noStrike" baseline="0" dirty="0" err="1">
                <a:latin typeface="Chromatica-Regular"/>
              </a:rPr>
              <a:t>Örneğin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telefon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numaraları</a:t>
            </a:r>
            <a:r>
              <a:rPr lang="en-US" sz="1800" b="0" i="0" u="none" strike="noStrike" baseline="0" dirty="0">
                <a:latin typeface="Chromatica-Regular"/>
              </a:rPr>
              <a:t> “50”</a:t>
            </a:r>
          </a:p>
          <a:p>
            <a:pPr algn="l"/>
            <a:r>
              <a:rPr lang="en-US" sz="1800" b="0" i="0" u="none" strike="noStrike" baseline="0" dirty="0" err="1">
                <a:latin typeface="Chromatica-Regular"/>
              </a:rPr>
              <a:t>ya</a:t>
            </a:r>
            <a:r>
              <a:rPr lang="en-US" sz="1800" b="0" i="0" u="none" strike="noStrike" baseline="0" dirty="0">
                <a:latin typeface="Chromatica-Regular"/>
              </a:rPr>
              <a:t> da “55” </a:t>
            </a:r>
            <a:r>
              <a:rPr lang="en-US" sz="1800" b="0" i="0" u="none" strike="noStrike" baseline="0" dirty="0" err="1">
                <a:latin typeface="Chromatica-Regular"/>
              </a:rPr>
              <a:t>ile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başlayan</a:t>
            </a:r>
            <a:r>
              <a:rPr lang="en-US" sz="1800" b="0" i="0" u="none" strike="noStrike" baseline="0" dirty="0">
                <a:latin typeface="Chromatica-Regular"/>
              </a:rPr>
              <a:t> “X” </a:t>
            </a:r>
            <a:r>
              <a:rPr lang="en-US" sz="1800" b="0" i="0" u="none" strike="noStrike" baseline="0" dirty="0" err="1">
                <a:latin typeface="Chromatica-Regular"/>
              </a:rPr>
              <a:t>operatörü</a:t>
            </a:r>
            <a:r>
              <a:rPr lang="en-US" sz="1800" b="0" i="0" u="none" strike="noStrike" baseline="0" dirty="0">
                <a:latin typeface="Chromatica-Regular"/>
              </a:rPr>
              <a:t> “54” </a:t>
            </a:r>
            <a:r>
              <a:rPr lang="en-US" sz="1800" b="0" i="0" u="none" strike="noStrike" baseline="0" dirty="0" err="1">
                <a:latin typeface="Chromatica-Regular"/>
              </a:rPr>
              <a:t>ile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başlayan</a:t>
            </a:r>
            <a:r>
              <a:rPr lang="en-US" sz="1800" b="0" i="0" u="none" strike="noStrike" baseline="0" dirty="0">
                <a:latin typeface="Chromatica-Regular"/>
              </a:rPr>
              <a:t> “Y” </a:t>
            </a:r>
            <a:r>
              <a:rPr lang="en-US" sz="1800" b="0" i="0" u="none" strike="noStrike" baseline="0" dirty="0" err="1">
                <a:latin typeface="Chromatica-Regular"/>
              </a:rPr>
              <a:t>operatörü</a:t>
            </a:r>
            <a:r>
              <a:rPr lang="en-US" sz="1800" b="0" i="0" u="none" strike="noStrike" baseline="0" dirty="0">
                <a:latin typeface="Chromatica-Regular"/>
              </a:rPr>
              <a:t> “53” </a:t>
            </a:r>
            <a:r>
              <a:rPr lang="en-US" sz="1800" b="0" i="0" u="none" strike="noStrike" baseline="0" dirty="0" err="1">
                <a:latin typeface="Chromatica-Regular"/>
              </a:rPr>
              <a:t>ile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başlayan</a:t>
            </a:r>
            <a:r>
              <a:rPr lang="en-US" sz="1800" b="0" i="0" u="none" strike="noStrike" baseline="0" dirty="0">
                <a:latin typeface="Chromatica-Regular"/>
              </a:rPr>
              <a:t> “Z” </a:t>
            </a:r>
            <a:r>
              <a:rPr lang="en-US" sz="1800" b="0" i="0" u="none" strike="noStrike" baseline="0" dirty="0" err="1">
                <a:latin typeface="Chromatica-Regular"/>
              </a:rPr>
              <a:t>operatörü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olsun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0" i="0" u="none" strike="noStrike" baseline="0" dirty="0" err="1">
                <a:latin typeface="Chromatica-Regular"/>
              </a:rPr>
              <a:t>Burada</a:t>
            </a:r>
            <a:r>
              <a:rPr lang="en-US" sz="1800" b="0" i="0" u="none" strike="noStrike" baseline="0" dirty="0">
                <a:latin typeface="Chromatica-Regular"/>
              </a:rPr>
              <a:t> hangi </a:t>
            </a:r>
            <a:r>
              <a:rPr lang="en-US" sz="1800" b="0" i="0" u="none" strike="noStrike" baseline="0" dirty="0" err="1">
                <a:latin typeface="Chromatica-Regular"/>
              </a:rPr>
              <a:t>operatörden</a:t>
            </a:r>
            <a:r>
              <a:rPr lang="en-US" sz="1800" b="0" i="0" u="none" strike="noStrike" baseline="0" dirty="0">
                <a:latin typeface="Chromatica-Regular"/>
              </a:rPr>
              <a:t> ne </a:t>
            </a:r>
            <a:r>
              <a:rPr lang="en-US" sz="1800" b="0" i="0" u="none" strike="noStrike" baseline="0" dirty="0" err="1">
                <a:latin typeface="Chromatica-Regular"/>
              </a:rPr>
              <a:t>kadar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müşterimiz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olduğu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bilgisini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getirecek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sorguyu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yazınız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14. </a:t>
            </a:r>
            <a:r>
              <a:rPr lang="en-US" sz="1800" b="0" i="0" u="none" strike="noStrike" baseline="0" dirty="0">
                <a:latin typeface="Chromatica-Regular"/>
              </a:rPr>
              <a:t>Her </a:t>
            </a:r>
            <a:r>
              <a:rPr lang="en-US" sz="1800" b="0" i="0" u="none" strike="noStrike" baseline="0" dirty="0" err="1">
                <a:latin typeface="Chromatica-Regular"/>
              </a:rPr>
              <a:t>ilde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en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çok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müşteriye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sahip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olduğumuz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ilçeleri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müşteri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sayısına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göre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çoktan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aza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doğru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sıralı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şekilde</a:t>
            </a:r>
            <a:endParaRPr lang="en-US" sz="1800" b="0" i="0" u="none" strike="noStrike" baseline="0" dirty="0">
              <a:latin typeface="Chromatica-Regular"/>
            </a:endParaRPr>
          </a:p>
          <a:p>
            <a:pPr algn="l"/>
            <a:r>
              <a:rPr lang="en-US" sz="1800" b="0" i="0" u="none" strike="noStrike" baseline="0" dirty="0" err="1">
                <a:latin typeface="Chromatica-Regular"/>
              </a:rPr>
              <a:t>şekildeki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gibi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getirmek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için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gereken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sorguyu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yazınız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</a:p>
          <a:p>
            <a:pPr algn="l"/>
            <a:r>
              <a:rPr lang="en-US" sz="1800" b="1" i="0" u="none" strike="noStrike" baseline="0" dirty="0">
                <a:latin typeface="Chromatica-Bold"/>
              </a:rPr>
              <a:t>15. </a:t>
            </a:r>
            <a:r>
              <a:rPr lang="en-US" sz="1800" b="0" i="0" u="none" strike="noStrike" baseline="0" dirty="0" err="1">
                <a:latin typeface="Chromatica-Regular"/>
              </a:rPr>
              <a:t>Müşterilerin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doğum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günlerini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haftanın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günü</a:t>
            </a:r>
            <a:r>
              <a:rPr lang="en-US" sz="1800" b="0" i="0" u="none" strike="noStrike" baseline="0" dirty="0">
                <a:latin typeface="Chromatica-Regular"/>
              </a:rPr>
              <a:t>(</a:t>
            </a:r>
            <a:r>
              <a:rPr lang="en-US" sz="1800" b="0" i="0" u="none" strike="noStrike" baseline="0" dirty="0" err="1">
                <a:latin typeface="Chromatica-Regular"/>
              </a:rPr>
              <a:t>Pazartesi</a:t>
            </a:r>
            <a:r>
              <a:rPr lang="en-US" sz="1800" b="0" i="0" u="none" strike="noStrike" baseline="0" dirty="0">
                <a:latin typeface="Chromatica-Regular"/>
              </a:rPr>
              <a:t>, </a:t>
            </a:r>
            <a:r>
              <a:rPr lang="en-US" sz="1800" b="0" i="0" u="none" strike="noStrike" baseline="0" dirty="0" err="1">
                <a:latin typeface="Chromatica-Regular"/>
              </a:rPr>
              <a:t>Salı</a:t>
            </a:r>
            <a:r>
              <a:rPr lang="en-US" sz="1800" b="0" i="0" u="none" strike="noStrike" baseline="0" dirty="0">
                <a:latin typeface="Chromatica-Regular"/>
              </a:rPr>
              <a:t>, </a:t>
            </a:r>
            <a:r>
              <a:rPr lang="en-US" sz="1800" b="0" i="0" u="none" strike="noStrike" baseline="0" dirty="0" err="1">
                <a:latin typeface="Chromatica-Regular"/>
              </a:rPr>
              <a:t>Çarşamba</a:t>
            </a:r>
            <a:r>
              <a:rPr lang="en-US" sz="1800" b="0" i="0" u="none" strike="noStrike" baseline="0" dirty="0">
                <a:latin typeface="Chromatica-Regular"/>
              </a:rPr>
              <a:t>..) </a:t>
            </a:r>
            <a:r>
              <a:rPr lang="en-US" sz="1800" b="0" i="0" u="none" strike="noStrike" baseline="0" dirty="0" err="1">
                <a:latin typeface="Chromatica-Regular"/>
              </a:rPr>
              <a:t>olarak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getiren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sorguyu</a:t>
            </a:r>
            <a:r>
              <a:rPr lang="en-US" sz="1800" b="0" i="0" u="none" strike="noStrike" baseline="0" dirty="0">
                <a:latin typeface="Chromatica-Regular"/>
              </a:rPr>
              <a:t> </a:t>
            </a:r>
            <a:r>
              <a:rPr lang="en-US" sz="1800" b="0" i="0" u="none" strike="noStrike" baseline="0" dirty="0" err="1">
                <a:latin typeface="Chromatica-Regular"/>
              </a:rPr>
              <a:t>yazınız</a:t>
            </a:r>
            <a:r>
              <a:rPr lang="en-US" sz="1800" b="0" i="0" u="none" strike="noStrike" baseline="0" dirty="0">
                <a:latin typeface="Chromatica-Regular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73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330</Words>
  <Application>Microsoft Office PowerPoint</Application>
  <PresentationFormat>Geniş ekran</PresentationFormat>
  <Paragraphs>21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Chromatica-Bold</vt:lpstr>
      <vt:lpstr>Chromatica-Regular</vt:lpstr>
      <vt:lpstr>Office Teması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Derya Malkoç</dc:creator>
  <cp:lastModifiedBy>Derya Malkoç</cp:lastModifiedBy>
  <cp:revision>1</cp:revision>
  <dcterms:created xsi:type="dcterms:W3CDTF">2025-04-07T09:05:35Z</dcterms:created>
  <dcterms:modified xsi:type="dcterms:W3CDTF">2025-04-07T09:10:27Z</dcterms:modified>
</cp:coreProperties>
</file>